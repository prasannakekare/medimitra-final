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Garet Bold" charset="1" panose="00000000000000000000"/>
      <p:regular r:id="rId9"/>
    </p:embeddedFont>
    <p:embeddedFont>
      <p:font typeface="Open Sans" charset="1" panose="00000000000000000000"/>
      <p:regular r:id="rId10"/>
    </p:embeddedFont>
    <p:embeddedFont>
      <p:font typeface="Open Sans Bold" charset="1" panose="00000000000000000000"/>
      <p:regular r:id="rId11"/>
    </p:embeddedFont>
    <p:embeddedFont>
      <p:font typeface="Canva Sans Bold" charset="1" panose="020B0803030501040103"/>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6770594" cy="10486283"/>
            <a:chOff x="0" y="0"/>
            <a:chExt cx="1783202" cy="2761819"/>
          </a:xfrm>
        </p:grpSpPr>
        <p:sp>
          <p:nvSpPr>
            <p:cNvPr name="Freeform 3" id="3"/>
            <p:cNvSpPr/>
            <p:nvPr/>
          </p:nvSpPr>
          <p:spPr>
            <a:xfrm flipH="false" flipV="false" rot="0">
              <a:off x="0" y="0"/>
              <a:ext cx="1783202" cy="2761819"/>
            </a:xfrm>
            <a:custGeom>
              <a:avLst/>
              <a:gdLst/>
              <a:ahLst/>
              <a:cxnLst/>
              <a:rect r="r" b="b" t="t" l="l"/>
              <a:pathLst>
                <a:path h="2761819" w="1783202">
                  <a:moveTo>
                    <a:pt x="0" y="0"/>
                  </a:moveTo>
                  <a:lnTo>
                    <a:pt x="1783202" y="0"/>
                  </a:lnTo>
                  <a:lnTo>
                    <a:pt x="1783202" y="2761819"/>
                  </a:lnTo>
                  <a:lnTo>
                    <a:pt x="0" y="2761819"/>
                  </a:lnTo>
                  <a:close/>
                </a:path>
              </a:pathLst>
            </a:custGeom>
            <a:solidFill>
              <a:srgbClr val="7001D2"/>
            </a:solidFill>
          </p:spPr>
        </p:sp>
        <p:sp>
          <p:nvSpPr>
            <p:cNvPr name="TextBox 4" id="4"/>
            <p:cNvSpPr txBox="true"/>
            <p:nvPr/>
          </p:nvSpPr>
          <p:spPr>
            <a:xfrm>
              <a:off x="0" y="-38100"/>
              <a:ext cx="1783202" cy="2799919"/>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916626" y="1908721"/>
            <a:ext cx="1310100" cy="0"/>
          </a:xfrm>
          <a:prstGeom prst="line">
            <a:avLst/>
          </a:prstGeom>
          <a:ln cap="flat" w="95250">
            <a:solidFill>
              <a:srgbClr val="FFFFFF"/>
            </a:solidFill>
            <a:prstDash val="solid"/>
            <a:headEnd type="none" len="sm" w="sm"/>
            <a:tailEnd type="none" len="sm" w="sm"/>
          </a:ln>
        </p:spPr>
      </p:sp>
      <p:grpSp>
        <p:nvGrpSpPr>
          <p:cNvPr name="Group 6" id="6"/>
          <p:cNvGrpSpPr/>
          <p:nvPr/>
        </p:nvGrpSpPr>
        <p:grpSpPr>
          <a:xfrm rot="0">
            <a:off x="7747314" y="2241444"/>
            <a:ext cx="225144" cy="22514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09FF"/>
            </a:solidFill>
            <a:ln cap="sq">
              <a:noFill/>
              <a:prstDash val="solid"/>
              <a:miter/>
            </a:ln>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marL="410209" indent="-205105" lvl="1">
                <a:lnSpc>
                  <a:spcPts val="2659"/>
                </a:lnSpc>
                <a:buFont typeface="Arial"/>
                <a:buChar char="•"/>
              </a:pPr>
            </a:p>
          </p:txBody>
        </p:sp>
      </p:grpSp>
      <p:grpSp>
        <p:nvGrpSpPr>
          <p:cNvPr name="Group 9" id="9"/>
          <p:cNvGrpSpPr/>
          <p:nvPr/>
        </p:nvGrpSpPr>
        <p:grpSpPr>
          <a:xfrm rot="0">
            <a:off x="16267592" y="-2428942"/>
            <a:ext cx="4596322" cy="459632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5324660" y="9048119"/>
            <a:ext cx="596043" cy="59604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839945" y="744695"/>
            <a:ext cx="4568944" cy="887096"/>
          </a:xfrm>
          <a:prstGeom prst="rect">
            <a:avLst/>
          </a:prstGeom>
        </p:spPr>
        <p:txBody>
          <a:bodyPr anchor="t" rtlCol="false" tIns="0" lIns="0" bIns="0" rIns="0">
            <a:spAutoFit/>
          </a:bodyPr>
          <a:lstStyle/>
          <a:p>
            <a:pPr algn="l">
              <a:lnSpc>
                <a:spcPts val="7279"/>
              </a:lnSpc>
            </a:pPr>
            <a:r>
              <a:rPr lang="en-US" b="true" sz="5199" spc="103">
                <a:solidFill>
                  <a:srgbClr val="FFFFFF"/>
                </a:solidFill>
                <a:latin typeface="Garet Bold"/>
                <a:ea typeface="Garet Bold"/>
                <a:cs typeface="Garet Bold"/>
                <a:sym typeface="Garet Bold"/>
              </a:rPr>
              <a:t>PROBLEM</a:t>
            </a:r>
          </a:p>
        </p:txBody>
      </p:sp>
      <p:sp>
        <p:nvSpPr>
          <p:cNvPr name="TextBox 16" id="16"/>
          <p:cNvSpPr txBox="true"/>
          <p:nvPr/>
        </p:nvSpPr>
        <p:spPr>
          <a:xfrm rot="0">
            <a:off x="839945" y="4522846"/>
            <a:ext cx="5404873" cy="3860800"/>
          </a:xfrm>
          <a:prstGeom prst="rect">
            <a:avLst/>
          </a:prstGeom>
        </p:spPr>
        <p:txBody>
          <a:bodyPr anchor="t" rtlCol="false" tIns="0" lIns="0" bIns="0" rIns="0">
            <a:spAutoFit/>
          </a:bodyPr>
          <a:lstStyle/>
          <a:p>
            <a:pPr algn="just" marL="0" indent="0" lvl="0">
              <a:lnSpc>
                <a:spcPts val="3874"/>
              </a:lnSpc>
            </a:pPr>
            <a:r>
              <a:rPr lang="en-US" sz="2499">
                <a:solidFill>
                  <a:srgbClr val="FFFFFF"/>
                </a:solidFill>
                <a:latin typeface="Open Sans"/>
                <a:ea typeface="Open Sans"/>
                <a:cs typeface="Open Sans"/>
                <a:sym typeface="Open Sans"/>
              </a:rPr>
              <a:t>Many patients, especially the elderly and those with chronic illnesses, often forget to take their medications, which can lead to serious health issues or hospital visits. Staying on track with medication is a common problem that needs a simple solution.</a:t>
            </a:r>
          </a:p>
        </p:txBody>
      </p:sp>
      <p:sp>
        <p:nvSpPr>
          <p:cNvPr name="TextBox 17" id="17"/>
          <p:cNvSpPr txBox="true"/>
          <p:nvPr/>
        </p:nvSpPr>
        <p:spPr>
          <a:xfrm rot="0">
            <a:off x="8399928" y="2091181"/>
            <a:ext cx="9333994" cy="1264218"/>
          </a:xfrm>
          <a:prstGeom prst="rect">
            <a:avLst/>
          </a:prstGeom>
        </p:spPr>
        <p:txBody>
          <a:bodyPr anchor="t" rtlCol="false" tIns="0" lIns="0" bIns="0" rIns="0">
            <a:spAutoFit/>
          </a:bodyPr>
          <a:lstStyle/>
          <a:p>
            <a:pPr algn="just" marL="0" indent="0" lvl="0">
              <a:lnSpc>
                <a:spcPts val="3412"/>
              </a:lnSpc>
            </a:pPr>
            <a:r>
              <a:rPr lang="en-US" b="true" sz="2201">
                <a:solidFill>
                  <a:srgbClr val="FFFFFF"/>
                </a:solidFill>
                <a:latin typeface="Open Sans Bold"/>
                <a:ea typeface="Open Sans Bold"/>
                <a:cs typeface="Open Sans Bold"/>
                <a:sym typeface="Open Sans Bold"/>
              </a:rPr>
              <a:t>MediMitra</a:t>
            </a:r>
            <a:r>
              <a:rPr lang="en-US" sz="2201">
                <a:solidFill>
                  <a:srgbClr val="FFFFFF"/>
                </a:solidFill>
                <a:latin typeface="Open Sans"/>
                <a:ea typeface="Open Sans"/>
                <a:cs typeface="Open Sans"/>
                <a:sym typeface="Open Sans"/>
              </a:rPr>
              <a:t> is a full-stack web application designed to help users manage their medication schedules through smart reminders, integrating Google Home for voice assistance.</a:t>
            </a:r>
          </a:p>
        </p:txBody>
      </p:sp>
      <p:sp>
        <p:nvSpPr>
          <p:cNvPr name="TextBox 18" id="18"/>
          <p:cNvSpPr txBox="true"/>
          <p:nvPr/>
        </p:nvSpPr>
        <p:spPr>
          <a:xfrm rot="0">
            <a:off x="8278430" y="4041199"/>
            <a:ext cx="9328172" cy="1692910"/>
          </a:xfrm>
          <a:prstGeom prst="rect">
            <a:avLst/>
          </a:prstGeom>
        </p:spPr>
        <p:txBody>
          <a:bodyPr anchor="t" rtlCol="false" tIns="0" lIns="0" bIns="0" rIns="0">
            <a:spAutoFit/>
          </a:bodyPr>
          <a:lstStyle/>
          <a:p>
            <a:pPr algn="just" marL="0" indent="0" lvl="0">
              <a:lnSpc>
                <a:spcPts val="3410"/>
              </a:lnSpc>
            </a:pPr>
            <a:r>
              <a:rPr lang="en-US" sz="2200">
                <a:solidFill>
                  <a:srgbClr val="FFFFFF"/>
                </a:solidFill>
                <a:latin typeface="Open Sans"/>
                <a:ea typeface="Open Sans"/>
                <a:cs typeface="Open Sans"/>
                <a:sym typeface="Open Sans"/>
              </a:rPr>
              <a:t>Built with </a:t>
            </a:r>
            <a:r>
              <a:rPr lang="en-US" b="true" sz="2200">
                <a:solidFill>
                  <a:srgbClr val="FFFFFF"/>
                </a:solidFill>
                <a:latin typeface="Open Sans Bold"/>
                <a:ea typeface="Open Sans Bold"/>
                <a:cs typeface="Open Sans Bold"/>
                <a:sym typeface="Open Sans Bold"/>
              </a:rPr>
              <a:t>Next.js</a:t>
            </a:r>
            <a:r>
              <a:rPr lang="en-US" sz="2200">
                <a:solidFill>
                  <a:srgbClr val="FFFFFF"/>
                </a:solidFill>
                <a:latin typeface="Open Sans"/>
                <a:ea typeface="Open Sans"/>
                <a:cs typeface="Open Sans"/>
                <a:sym typeface="Open Sans"/>
              </a:rPr>
              <a:t> for the frontend and </a:t>
            </a:r>
            <a:r>
              <a:rPr lang="en-US" b="true" sz="2200">
                <a:solidFill>
                  <a:srgbClr val="FFFFFF"/>
                </a:solidFill>
                <a:latin typeface="Open Sans Bold"/>
                <a:ea typeface="Open Sans Bold"/>
                <a:cs typeface="Open Sans Bold"/>
                <a:sym typeface="Open Sans Bold"/>
              </a:rPr>
              <a:t>FastAPI</a:t>
            </a:r>
            <a:r>
              <a:rPr lang="en-US" sz="2200">
                <a:solidFill>
                  <a:srgbClr val="FFFFFF"/>
                </a:solidFill>
                <a:latin typeface="Open Sans"/>
                <a:ea typeface="Open Sans"/>
                <a:cs typeface="Open Sans"/>
                <a:sym typeface="Open Sans"/>
              </a:rPr>
              <a:t> for the backend, it enables users to securely log in using </a:t>
            </a:r>
            <a:r>
              <a:rPr lang="en-US" b="true" sz="2200">
                <a:solidFill>
                  <a:srgbClr val="FFFFFF"/>
                </a:solidFill>
                <a:latin typeface="Open Sans Bold"/>
                <a:ea typeface="Open Sans Bold"/>
                <a:cs typeface="Open Sans Bold"/>
                <a:sym typeface="Open Sans Bold"/>
              </a:rPr>
              <a:t>Google OAuth</a:t>
            </a:r>
            <a:r>
              <a:rPr lang="en-US" sz="2200">
                <a:solidFill>
                  <a:srgbClr val="FFFFFF"/>
                </a:solidFill>
                <a:latin typeface="Open Sans"/>
                <a:ea typeface="Open Sans"/>
                <a:cs typeface="Open Sans"/>
                <a:sym typeface="Open Sans"/>
              </a:rPr>
              <a:t>, add medications with details like dosage and frequency, and set verbal reminders via </a:t>
            </a:r>
            <a:r>
              <a:rPr lang="en-US" b="true" sz="2200">
                <a:solidFill>
                  <a:srgbClr val="FFFFFF"/>
                </a:solidFill>
                <a:latin typeface="Open Sans Bold"/>
                <a:ea typeface="Open Sans Bold"/>
                <a:cs typeface="Open Sans Bold"/>
                <a:sym typeface="Open Sans Bold"/>
              </a:rPr>
              <a:t>Google Assistant.</a:t>
            </a:r>
          </a:p>
        </p:txBody>
      </p:sp>
      <p:sp>
        <p:nvSpPr>
          <p:cNvPr name="TextBox 19" id="19"/>
          <p:cNvSpPr txBox="true"/>
          <p:nvPr/>
        </p:nvSpPr>
        <p:spPr>
          <a:xfrm rot="0">
            <a:off x="8049835" y="200660"/>
            <a:ext cx="5017090" cy="828040"/>
          </a:xfrm>
          <a:prstGeom prst="rect">
            <a:avLst/>
          </a:prstGeom>
        </p:spPr>
        <p:txBody>
          <a:bodyPr anchor="t" rtlCol="false" tIns="0" lIns="0" bIns="0" rIns="0">
            <a:spAutoFit/>
          </a:bodyPr>
          <a:lstStyle/>
          <a:p>
            <a:pPr algn="ctr">
              <a:lnSpc>
                <a:spcPts val="6860"/>
              </a:lnSpc>
            </a:pPr>
            <a:r>
              <a:rPr lang="en-US" sz="4900" b="true">
                <a:solidFill>
                  <a:srgbClr val="FFFFFF"/>
                </a:solidFill>
                <a:latin typeface="Canva Sans Bold"/>
                <a:ea typeface="Canva Sans Bold"/>
                <a:cs typeface="Canva Sans Bold"/>
                <a:sym typeface="Canva Sans Bold"/>
              </a:rPr>
              <a:t> Team CodeBros</a:t>
            </a:r>
          </a:p>
        </p:txBody>
      </p:sp>
      <p:grpSp>
        <p:nvGrpSpPr>
          <p:cNvPr name="Group 20" id="20"/>
          <p:cNvGrpSpPr/>
          <p:nvPr/>
        </p:nvGrpSpPr>
        <p:grpSpPr>
          <a:xfrm rot="0">
            <a:off x="7760799" y="4380822"/>
            <a:ext cx="198173" cy="19817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09FF"/>
            </a:solidFill>
            <a:ln cap="sq">
              <a:noFill/>
              <a:prstDash val="solid"/>
              <a:miter/>
            </a:ln>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marL="410209" indent="-205105" lvl="1">
                <a:lnSpc>
                  <a:spcPts val="2659"/>
                </a:lnSpc>
                <a:buFont typeface="Arial"/>
                <a:buChar char="•"/>
              </a:pPr>
            </a:p>
          </p:txBody>
        </p:sp>
      </p:grpSp>
      <p:sp>
        <p:nvSpPr>
          <p:cNvPr name="TextBox 23" id="23"/>
          <p:cNvSpPr txBox="true"/>
          <p:nvPr/>
        </p:nvSpPr>
        <p:spPr>
          <a:xfrm rot="0">
            <a:off x="8278430" y="6419908"/>
            <a:ext cx="9328172" cy="1264285"/>
          </a:xfrm>
          <a:prstGeom prst="rect">
            <a:avLst/>
          </a:prstGeom>
        </p:spPr>
        <p:txBody>
          <a:bodyPr anchor="t" rtlCol="false" tIns="0" lIns="0" bIns="0" rIns="0">
            <a:spAutoFit/>
          </a:bodyPr>
          <a:lstStyle/>
          <a:p>
            <a:pPr algn="just" marL="0" indent="0" lvl="0">
              <a:lnSpc>
                <a:spcPts val="3410"/>
              </a:lnSpc>
            </a:pPr>
            <a:r>
              <a:rPr lang="en-US" sz="2200">
                <a:solidFill>
                  <a:srgbClr val="FFFFFF"/>
                </a:solidFill>
                <a:latin typeface="Open Sans"/>
                <a:ea typeface="Open Sans"/>
                <a:cs typeface="Open Sans"/>
                <a:sym typeface="Open Sans"/>
              </a:rPr>
              <a:t>The application features a user-friendly dashboard for tracking reminders and medication history, as well as an admin panel for managing user accounts.</a:t>
            </a:r>
          </a:p>
        </p:txBody>
      </p:sp>
      <p:grpSp>
        <p:nvGrpSpPr>
          <p:cNvPr name="Group 24" id="24"/>
          <p:cNvGrpSpPr/>
          <p:nvPr/>
        </p:nvGrpSpPr>
        <p:grpSpPr>
          <a:xfrm rot="0">
            <a:off x="7774285" y="6830399"/>
            <a:ext cx="198173" cy="19817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09FF"/>
            </a:solidFill>
            <a:ln cap="sq">
              <a:noFill/>
              <a:prstDash val="solid"/>
              <a:miter/>
            </a:ln>
          </p:spPr>
        </p:sp>
        <p:sp>
          <p:nvSpPr>
            <p:cNvPr name="TextBox 26" id="26"/>
            <p:cNvSpPr txBox="true"/>
            <p:nvPr/>
          </p:nvSpPr>
          <p:spPr>
            <a:xfrm>
              <a:off x="76200" y="47625"/>
              <a:ext cx="660400" cy="688975"/>
            </a:xfrm>
            <a:prstGeom prst="rect">
              <a:avLst/>
            </a:prstGeom>
          </p:spPr>
          <p:txBody>
            <a:bodyPr anchor="ctr" rtlCol="false" tIns="50800" lIns="50800" bIns="50800" rIns="50800"/>
            <a:lstStyle/>
            <a:p>
              <a:pPr algn="ctr" marL="410209" indent="-205105" lvl="1">
                <a:lnSpc>
                  <a:spcPts val="2659"/>
                </a:lnSpc>
                <a:buFont typeface="Arial"/>
                <a:buChar char="•"/>
              </a:pPr>
            </a:p>
          </p:txBody>
        </p:sp>
      </p:grpSp>
      <p:sp>
        <p:nvSpPr>
          <p:cNvPr name="TextBox 27" id="27"/>
          <p:cNvSpPr txBox="true"/>
          <p:nvPr/>
        </p:nvSpPr>
        <p:spPr>
          <a:xfrm rot="0">
            <a:off x="8278430" y="7997083"/>
            <a:ext cx="9328172" cy="2621915"/>
          </a:xfrm>
          <a:prstGeom prst="rect">
            <a:avLst/>
          </a:prstGeom>
        </p:spPr>
        <p:txBody>
          <a:bodyPr anchor="t" rtlCol="false" tIns="0" lIns="0" bIns="0" rIns="0">
            <a:spAutoFit/>
          </a:bodyPr>
          <a:lstStyle/>
          <a:p>
            <a:pPr algn="just">
              <a:lnSpc>
                <a:spcPts val="3410"/>
              </a:lnSpc>
            </a:pPr>
            <a:r>
              <a:rPr lang="en-US" sz="2200">
                <a:solidFill>
                  <a:srgbClr val="FFFFFF"/>
                </a:solidFill>
                <a:latin typeface="Open Sans"/>
                <a:ea typeface="Open Sans"/>
                <a:cs typeface="Open Sans"/>
                <a:sym typeface="Open Sans"/>
              </a:rPr>
              <a:t>The With a focus on enhancing user experience, MediMitra combines modern web technologies and AI-driven functionalities to improve health outcomes by reducing missed doses and facilitating seamless medication management.</a:t>
            </a:r>
          </a:p>
          <a:p>
            <a:pPr algn="just">
              <a:lnSpc>
                <a:spcPts val="3720"/>
              </a:lnSpc>
            </a:pPr>
          </a:p>
          <a:p>
            <a:pPr algn="just" marL="0" indent="0" lvl="0">
              <a:lnSpc>
                <a:spcPts val="3720"/>
              </a:lnSpc>
            </a:pPr>
          </a:p>
        </p:txBody>
      </p:sp>
      <p:sp>
        <p:nvSpPr>
          <p:cNvPr name="TextBox 28" id="28"/>
          <p:cNvSpPr txBox="true"/>
          <p:nvPr/>
        </p:nvSpPr>
        <p:spPr>
          <a:xfrm rot="0">
            <a:off x="839945" y="2184013"/>
            <a:ext cx="5004077" cy="528321"/>
          </a:xfrm>
          <a:prstGeom prst="rect">
            <a:avLst/>
          </a:prstGeom>
        </p:spPr>
        <p:txBody>
          <a:bodyPr anchor="t" rtlCol="false" tIns="0" lIns="0" bIns="0" rIns="0">
            <a:spAutoFit/>
          </a:bodyPr>
          <a:lstStyle/>
          <a:p>
            <a:pPr algn="just" marL="0" indent="0" lvl="0">
              <a:lnSpc>
                <a:spcPts val="4494"/>
              </a:lnSpc>
            </a:pPr>
            <a:r>
              <a:rPr lang="en-US" b="true" sz="2899">
                <a:solidFill>
                  <a:srgbClr val="FFFFFF"/>
                </a:solidFill>
                <a:latin typeface="Open Sans Bold"/>
                <a:ea typeface="Open Sans Bold"/>
                <a:cs typeface="Open Sans Bold"/>
                <a:sym typeface="Open Sans Bold"/>
              </a:rPr>
              <a:t>Tittle-</a:t>
            </a:r>
          </a:p>
        </p:txBody>
      </p:sp>
      <p:sp>
        <p:nvSpPr>
          <p:cNvPr name="TextBox 29" id="29"/>
          <p:cNvSpPr txBox="true"/>
          <p:nvPr/>
        </p:nvSpPr>
        <p:spPr>
          <a:xfrm rot="0">
            <a:off x="839945" y="2854573"/>
            <a:ext cx="6148216" cy="499110"/>
          </a:xfrm>
          <a:prstGeom prst="rect">
            <a:avLst/>
          </a:prstGeom>
        </p:spPr>
        <p:txBody>
          <a:bodyPr anchor="t" rtlCol="false" tIns="0" lIns="0" bIns="0" rIns="0">
            <a:spAutoFit/>
          </a:bodyPr>
          <a:lstStyle/>
          <a:p>
            <a:pPr algn="just" marL="0" indent="0" lvl="0">
              <a:lnSpc>
                <a:spcPts val="4184"/>
              </a:lnSpc>
            </a:pPr>
            <a:r>
              <a:rPr lang="en-US" sz="2699">
                <a:solidFill>
                  <a:srgbClr val="FFFFFF"/>
                </a:solidFill>
                <a:latin typeface="Open Sans"/>
                <a:ea typeface="Open Sans"/>
                <a:cs typeface="Open Sans"/>
                <a:sym typeface="Open Sans"/>
              </a:rPr>
              <a:t>Voice enabled medicines reminder</a:t>
            </a:r>
          </a:p>
        </p:txBody>
      </p:sp>
      <p:sp>
        <p:nvSpPr>
          <p:cNvPr name="TextBox 30" id="30"/>
          <p:cNvSpPr txBox="true"/>
          <p:nvPr/>
        </p:nvSpPr>
        <p:spPr>
          <a:xfrm rot="0">
            <a:off x="12384229" y="1162208"/>
            <a:ext cx="3681103" cy="537845"/>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Team no.17</a:t>
            </a:r>
          </a:p>
        </p:txBody>
      </p:sp>
      <p:sp>
        <p:nvSpPr>
          <p:cNvPr name="TextBox 31" id="31"/>
          <p:cNvSpPr txBox="true"/>
          <p:nvPr/>
        </p:nvSpPr>
        <p:spPr>
          <a:xfrm rot="0">
            <a:off x="839945" y="3618288"/>
            <a:ext cx="5004077" cy="528321"/>
          </a:xfrm>
          <a:prstGeom prst="rect">
            <a:avLst/>
          </a:prstGeom>
        </p:spPr>
        <p:txBody>
          <a:bodyPr anchor="t" rtlCol="false" tIns="0" lIns="0" bIns="0" rIns="0">
            <a:spAutoFit/>
          </a:bodyPr>
          <a:lstStyle/>
          <a:p>
            <a:pPr algn="just" marL="0" indent="0" lvl="0">
              <a:lnSpc>
                <a:spcPts val="4494"/>
              </a:lnSpc>
            </a:pPr>
            <a:r>
              <a:rPr lang="en-US" b="true" sz="2899">
                <a:solidFill>
                  <a:srgbClr val="FFFFFF"/>
                </a:solidFill>
                <a:latin typeface="Open Sans Bold"/>
                <a:ea typeface="Open Sans Bold"/>
                <a:cs typeface="Open Sans Bold"/>
                <a:sym typeface="Open Sans Bold"/>
              </a:rPr>
              <a:t>Description: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6770594" cy="10287000"/>
            <a:chOff x="0" y="0"/>
            <a:chExt cx="1783202" cy="2709333"/>
          </a:xfrm>
        </p:grpSpPr>
        <p:sp>
          <p:nvSpPr>
            <p:cNvPr name="Freeform 3" id="3"/>
            <p:cNvSpPr/>
            <p:nvPr/>
          </p:nvSpPr>
          <p:spPr>
            <a:xfrm flipH="false" flipV="false" rot="0">
              <a:off x="0" y="0"/>
              <a:ext cx="1783202" cy="2709333"/>
            </a:xfrm>
            <a:custGeom>
              <a:avLst/>
              <a:gdLst/>
              <a:ahLst/>
              <a:cxnLst/>
              <a:rect r="r" b="b" t="t" l="l"/>
              <a:pathLst>
                <a:path h="2709333" w="1783202">
                  <a:moveTo>
                    <a:pt x="0" y="0"/>
                  </a:moveTo>
                  <a:lnTo>
                    <a:pt x="1783202" y="0"/>
                  </a:lnTo>
                  <a:lnTo>
                    <a:pt x="1783202" y="2709333"/>
                  </a:lnTo>
                  <a:lnTo>
                    <a:pt x="0" y="2709333"/>
                  </a:lnTo>
                  <a:close/>
                </a:path>
              </a:pathLst>
            </a:custGeom>
            <a:solidFill>
              <a:srgbClr val="8C09FF"/>
            </a:solidFill>
          </p:spPr>
        </p:sp>
        <p:sp>
          <p:nvSpPr>
            <p:cNvPr name="TextBox 4" id="4"/>
            <p:cNvSpPr txBox="true"/>
            <p:nvPr/>
          </p:nvSpPr>
          <p:spPr>
            <a:xfrm>
              <a:off x="0" y="-38100"/>
              <a:ext cx="1783202"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916626" y="1908721"/>
            <a:ext cx="1310100" cy="0"/>
          </a:xfrm>
          <a:prstGeom prst="line">
            <a:avLst/>
          </a:prstGeom>
          <a:ln cap="flat" w="95250">
            <a:solidFill>
              <a:srgbClr val="FFFFFF"/>
            </a:solidFill>
            <a:prstDash val="solid"/>
            <a:headEnd type="none" len="sm" w="sm"/>
            <a:tailEnd type="none" len="sm" w="sm"/>
          </a:ln>
        </p:spPr>
      </p:sp>
      <p:grpSp>
        <p:nvGrpSpPr>
          <p:cNvPr name="Group 6" id="6"/>
          <p:cNvGrpSpPr/>
          <p:nvPr/>
        </p:nvGrpSpPr>
        <p:grpSpPr>
          <a:xfrm rot="0">
            <a:off x="17259300" y="7406450"/>
            <a:ext cx="4596322" cy="459632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8250669" y="-622270"/>
            <a:ext cx="1479329" cy="14793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8C09FF">
                <a:alpha val="29804"/>
              </a:srgbClr>
            </a:solidFill>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140966" y="1598771"/>
            <a:ext cx="10118334" cy="8290045"/>
            <a:chOff x="0" y="0"/>
            <a:chExt cx="2664911" cy="2183386"/>
          </a:xfrm>
        </p:grpSpPr>
        <p:sp>
          <p:nvSpPr>
            <p:cNvPr name="Freeform 13" id="13"/>
            <p:cNvSpPr/>
            <p:nvPr/>
          </p:nvSpPr>
          <p:spPr>
            <a:xfrm flipH="false" flipV="false" rot="0">
              <a:off x="0" y="0"/>
              <a:ext cx="2664911" cy="2183386"/>
            </a:xfrm>
            <a:custGeom>
              <a:avLst/>
              <a:gdLst/>
              <a:ahLst/>
              <a:cxnLst/>
              <a:rect r="r" b="b" t="t" l="l"/>
              <a:pathLst>
                <a:path h="2183386" w="2664911">
                  <a:moveTo>
                    <a:pt x="39022" y="0"/>
                  </a:moveTo>
                  <a:lnTo>
                    <a:pt x="2625889" y="0"/>
                  </a:lnTo>
                  <a:cubicBezTo>
                    <a:pt x="2647440" y="0"/>
                    <a:pt x="2664911" y="17471"/>
                    <a:pt x="2664911" y="39022"/>
                  </a:cubicBezTo>
                  <a:lnTo>
                    <a:pt x="2664911" y="2144364"/>
                  </a:lnTo>
                  <a:cubicBezTo>
                    <a:pt x="2664911" y="2165915"/>
                    <a:pt x="2647440" y="2183386"/>
                    <a:pt x="2625889" y="2183386"/>
                  </a:cubicBezTo>
                  <a:lnTo>
                    <a:pt x="39022" y="2183386"/>
                  </a:lnTo>
                  <a:cubicBezTo>
                    <a:pt x="17471" y="2183386"/>
                    <a:pt x="0" y="2165915"/>
                    <a:pt x="0" y="2144364"/>
                  </a:cubicBezTo>
                  <a:lnTo>
                    <a:pt x="0" y="39022"/>
                  </a:lnTo>
                  <a:cubicBezTo>
                    <a:pt x="0" y="17471"/>
                    <a:pt x="17471" y="0"/>
                    <a:pt x="39022" y="0"/>
                  </a:cubicBezTo>
                  <a:close/>
                </a:path>
              </a:pathLst>
            </a:custGeom>
            <a:solidFill>
              <a:srgbClr val="E8ECEC"/>
            </a:solidFill>
          </p:spPr>
        </p:sp>
        <p:sp>
          <p:nvSpPr>
            <p:cNvPr name="TextBox 14" id="14"/>
            <p:cNvSpPr txBox="true"/>
            <p:nvPr/>
          </p:nvSpPr>
          <p:spPr>
            <a:xfrm>
              <a:off x="0" y="-38100"/>
              <a:ext cx="2664911" cy="2221486"/>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7322823" y="2330844"/>
            <a:ext cx="9754621" cy="7313318"/>
          </a:xfrm>
          <a:custGeom>
            <a:avLst/>
            <a:gdLst/>
            <a:ahLst/>
            <a:cxnLst/>
            <a:rect r="r" b="b" t="t" l="l"/>
            <a:pathLst>
              <a:path h="7313318" w="9754621">
                <a:moveTo>
                  <a:pt x="0" y="0"/>
                </a:moveTo>
                <a:lnTo>
                  <a:pt x="9754620" y="0"/>
                </a:lnTo>
                <a:lnTo>
                  <a:pt x="9754620" y="7313318"/>
                </a:lnTo>
                <a:lnTo>
                  <a:pt x="0" y="7313318"/>
                </a:lnTo>
                <a:lnTo>
                  <a:pt x="0" y="0"/>
                </a:lnTo>
                <a:close/>
              </a:path>
            </a:pathLst>
          </a:custGeom>
          <a:blipFill>
            <a:blip r:embed="rId2"/>
            <a:stretch>
              <a:fillRect l="-1088" t="0" r="-1088" b="0"/>
            </a:stretch>
          </a:blipFill>
        </p:spPr>
      </p:sp>
      <p:sp>
        <p:nvSpPr>
          <p:cNvPr name="TextBox 16" id="16"/>
          <p:cNvSpPr txBox="true"/>
          <p:nvPr/>
        </p:nvSpPr>
        <p:spPr>
          <a:xfrm rot="0">
            <a:off x="839945" y="744695"/>
            <a:ext cx="4568944" cy="854076"/>
          </a:xfrm>
          <a:prstGeom prst="rect">
            <a:avLst/>
          </a:prstGeom>
        </p:spPr>
        <p:txBody>
          <a:bodyPr anchor="t" rtlCol="false" tIns="0" lIns="0" bIns="0" rIns="0">
            <a:spAutoFit/>
          </a:bodyPr>
          <a:lstStyle/>
          <a:p>
            <a:pPr algn="l">
              <a:lnSpc>
                <a:spcPts val="6999"/>
              </a:lnSpc>
            </a:pPr>
            <a:r>
              <a:rPr lang="en-US" b="true" sz="4999" spc="99">
                <a:solidFill>
                  <a:srgbClr val="FFFFFF"/>
                </a:solidFill>
                <a:latin typeface="Garet Bold"/>
                <a:ea typeface="Garet Bold"/>
                <a:cs typeface="Garet Bold"/>
                <a:sym typeface="Garet Bold"/>
              </a:rPr>
              <a:t>SOLUTION</a:t>
            </a:r>
          </a:p>
        </p:txBody>
      </p:sp>
      <p:sp>
        <p:nvSpPr>
          <p:cNvPr name="TextBox 17" id="17"/>
          <p:cNvSpPr txBox="true"/>
          <p:nvPr/>
        </p:nvSpPr>
        <p:spPr>
          <a:xfrm rot="0">
            <a:off x="390450" y="2556056"/>
            <a:ext cx="5989693" cy="6289749"/>
          </a:xfrm>
          <a:prstGeom prst="rect">
            <a:avLst/>
          </a:prstGeom>
        </p:spPr>
        <p:txBody>
          <a:bodyPr anchor="t" rtlCol="false" tIns="0" lIns="0" bIns="0" rIns="0">
            <a:spAutoFit/>
          </a:bodyPr>
          <a:lstStyle/>
          <a:p>
            <a:pPr algn="just">
              <a:lnSpc>
                <a:spcPts val="3872"/>
              </a:lnSpc>
            </a:pPr>
            <a:r>
              <a:rPr lang="en-US" sz="2498" b="true">
                <a:solidFill>
                  <a:srgbClr val="FFFFFF"/>
                </a:solidFill>
                <a:latin typeface="Open Sans Bold"/>
                <a:ea typeface="Open Sans Bold"/>
                <a:cs typeface="Open Sans Bold"/>
                <a:sym typeface="Open Sans Bold"/>
              </a:rPr>
              <a:t>Key Features:</a:t>
            </a:r>
          </a:p>
          <a:p>
            <a:pPr algn="just">
              <a:lnSpc>
                <a:spcPts val="3872"/>
              </a:lnSpc>
            </a:pPr>
          </a:p>
          <a:p>
            <a:pPr algn="just" marL="539392" indent="-269696" lvl="1">
              <a:lnSpc>
                <a:spcPts val="3872"/>
              </a:lnSpc>
              <a:buFont typeface="Arial"/>
              <a:buChar char="•"/>
            </a:pPr>
            <a:r>
              <a:rPr lang="en-US" b="true" sz="2498">
                <a:solidFill>
                  <a:srgbClr val="FFFFFF"/>
                </a:solidFill>
                <a:latin typeface="Open Sans Bold"/>
                <a:ea typeface="Open Sans Bold"/>
                <a:cs typeface="Open Sans Bold"/>
                <a:sym typeface="Open Sans Bold"/>
              </a:rPr>
              <a:t>Personalized Reminders</a:t>
            </a:r>
            <a:r>
              <a:rPr lang="en-US" sz="2498">
                <a:solidFill>
                  <a:srgbClr val="FFFFFF"/>
                </a:solidFill>
                <a:latin typeface="Open Sans"/>
                <a:ea typeface="Open Sans"/>
                <a:cs typeface="Open Sans"/>
                <a:sym typeface="Open Sans"/>
              </a:rPr>
              <a:t> based on your unique prescription needs</a:t>
            </a:r>
          </a:p>
          <a:p>
            <a:pPr algn="just" marL="539392" indent="-269696" lvl="1">
              <a:lnSpc>
                <a:spcPts val="3872"/>
              </a:lnSpc>
              <a:buFont typeface="Arial"/>
              <a:buChar char="•"/>
            </a:pPr>
            <a:r>
              <a:rPr lang="en-US" b="true" sz="2498">
                <a:solidFill>
                  <a:srgbClr val="FFFFFF"/>
                </a:solidFill>
                <a:latin typeface="Open Sans Bold"/>
                <a:ea typeface="Open Sans Bold"/>
                <a:cs typeface="Open Sans Bold"/>
                <a:sym typeface="Open Sans Bold"/>
              </a:rPr>
              <a:t>Interactive Voice Assistance - </a:t>
            </a:r>
            <a:r>
              <a:rPr lang="en-US" sz="2498">
                <a:solidFill>
                  <a:srgbClr val="FFFFFF"/>
                </a:solidFill>
                <a:latin typeface="Open Sans"/>
                <a:ea typeface="Open Sans"/>
                <a:cs typeface="Open Sans"/>
                <a:sym typeface="Open Sans"/>
              </a:rPr>
              <a:t>voice-enabled medicine reminder for timely reminder</a:t>
            </a:r>
            <a:r>
              <a:rPr lang="en-US" b="true" sz="2498">
                <a:solidFill>
                  <a:srgbClr val="FFFFFF"/>
                </a:solidFill>
                <a:latin typeface="Open Sans Bold"/>
                <a:ea typeface="Open Sans Bold"/>
                <a:cs typeface="Open Sans Bold"/>
                <a:sym typeface="Open Sans Bold"/>
              </a:rPr>
              <a:t>s</a:t>
            </a:r>
          </a:p>
          <a:p>
            <a:pPr algn="just" marL="539392" indent="-269696" lvl="1">
              <a:lnSpc>
                <a:spcPts val="3872"/>
              </a:lnSpc>
              <a:buFont typeface="Arial"/>
              <a:buChar char="•"/>
            </a:pPr>
            <a:r>
              <a:rPr lang="en-US" b="true" sz="2498">
                <a:solidFill>
                  <a:srgbClr val="FFFFFF"/>
                </a:solidFill>
                <a:latin typeface="Open Sans Bold"/>
                <a:ea typeface="Open Sans Bold"/>
                <a:cs typeface="Open Sans Bold"/>
                <a:sym typeface="Open Sans Bold"/>
              </a:rPr>
              <a:t>Prescription to medicine schedule</a:t>
            </a:r>
            <a:r>
              <a:rPr lang="en-US" sz="2498">
                <a:solidFill>
                  <a:srgbClr val="FFFFFF"/>
                </a:solidFill>
                <a:latin typeface="Open Sans"/>
                <a:ea typeface="Open Sans"/>
                <a:cs typeface="Open Sans"/>
                <a:sym typeface="Open Sans"/>
              </a:rPr>
              <a:t> using OCR techniques.</a:t>
            </a:r>
          </a:p>
          <a:p>
            <a:pPr algn="just" marL="539392" indent="-269696" lvl="1">
              <a:lnSpc>
                <a:spcPts val="3872"/>
              </a:lnSpc>
              <a:buFont typeface="Arial"/>
              <a:buChar char="•"/>
            </a:pPr>
            <a:r>
              <a:rPr lang="en-US" b="true" sz="2498">
                <a:solidFill>
                  <a:srgbClr val="FFFFFF"/>
                </a:solidFill>
                <a:latin typeface="Open Sans Bold"/>
                <a:ea typeface="Open Sans Bold"/>
                <a:cs typeface="Open Sans Bold"/>
                <a:sym typeface="Open Sans Bold"/>
              </a:rPr>
              <a:t>Seamless integration</a:t>
            </a:r>
            <a:r>
              <a:rPr lang="en-US" sz="2498">
                <a:solidFill>
                  <a:srgbClr val="FFFFFF"/>
                </a:solidFill>
                <a:latin typeface="Open Sans"/>
                <a:ea typeface="Open Sans"/>
                <a:cs typeface="Open Sans"/>
                <a:sym typeface="Open Sans"/>
              </a:rPr>
              <a:t> with smart devices like Google Home</a:t>
            </a:r>
          </a:p>
          <a:p>
            <a:pPr algn="just">
              <a:lnSpc>
                <a:spcPts val="3872"/>
              </a:lnSpc>
            </a:pPr>
          </a:p>
          <a:p>
            <a:pPr algn="just" marL="0" indent="0" lvl="0">
              <a:lnSpc>
                <a:spcPts val="3872"/>
              </a:lnSpc>
            </a:pPr>
          </a:p>
        </p:txBody>
      </p:sp>
      <p:sp>
        <p:nvSpPr>
          <p:cNvPr name="TextBox 18" id="18"/>
          <p:cNvSpPr txBox="true"/>
          <p:nvPr/>
        </p:nvSpPr>
        <p:spPr>
          <a:xfrm rot="0">
            <a:off x="13066925" y="544513"/>
            <a:ext cx="4972097"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Team CodeBros</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47016" y="6199649"/>
            <a:ext cx="5101413" cy="2799389"/>
            <a:chOff x="0" y="0"/>
            <a:chExt cx="1343582" cy="737288"/>
          </a:xfrm>
        </p:grpSpPr>
        <p:sp>
          <p:nvSpPr>
            <p:cNvPr name="Freeform 3" id="3"/>
            <p:cNvSpPr/>
            <p:nvPr/>
          </p:nvSpPr>
          <p:spPr>
            <a:xfrm flipH="false" flipV="false" rot="0">
              <a:off x="0" y="0"/>
              <a:ext cx="1343582" cy="737288"/>
            </a:xfrm>
            <a:custGeom>
              <a:avLst/>
              <a:gdLst/>
              <a:ahLst/>
              <a:cxnLst/>
              <a:rect r="r" b="b" t="t" l="l"/>
              <a:pathLst>
                <a:path h="737288" w="1343582">
                  <a:moveTo>
                    <a:pt x="77398" y="0"/>
                  </a:moveTo>
                  <a:lnTo>
                    <a:pt x="1266184" y="0"/>
                  </a:lnTo>
                  <a:cubicBezTo>
                    <a:pt x="1308930" y="0"/>
                    <a:pt x="1343582" y="34652"/>
                    <a:pt x="1343582" y="77398"/>
                  </a:cubicBezTo>
                  <a:lnTo>
                    <a:pt x="1343582" y="659890"/>
                  </a:lnTo>
                  <a:cubicBezTo>
                    <a:pt x="1343582" y="702636"/>
                    <a:pt x="1308930" y="737288"/>
                    <a:pt x="1266184" y="737288"/>
                  </a:cubicBezTo>
                  <a:lnTo>
                    <a:pt x="77398" y="737288"/>
                  </a:lnTo>
                  <a:cubicBezTo>
                    <a:pt x="34652" y="737288"/>
                    <a:pt x="0" y="702636"/>
                    <a:pt x="0" y="659890"/>
                  </a:cubicBezTo>
                  <a:lnTo>
                    <a:pt x="0" y="77398"/>
                  </a:lnTo>
                  <a:cubicBezTo>
                    <a:pt x="0" y="34652"/>
                    <a:pt x="34652" y="0"/>
                    <a:pt x="77398" y="0"/>
                  </a:cubicBezTo>
                  <a:close/>
                </a:path>
              </a:pathLst>
            </a:custGeom>
            <a:solidFill>
              <a:srgbClr val="8C09FF"/>
            </a:solidFill>
          </p:spPr>
        </p:sp>
        <p:sp>
          <p:nvSpPr>
            <p:cNvPr name="TextBox 4" id="4"/>
            <p:cNvSpPr txBox="true"/>
            <p:nvPr/>
          </p:nvSpPr>
          <p:spPr>
            <a:xfrm>
              <a:off x="0" y="-38100"/>
              <a:ext cx="1343582" cy="77538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58946" y="2520995"/>
            <a:ext cx="5089482" cy="5588898"/>
            <a:chOff x="0" y="0"/>
            <a:chExt cx="1340440" cy="1471973"/>
          </a:xfrm>
        </p:grpSpPr>
        <p:sp>
          <p:nvSpPr>
            <p:cNvPr name="Freeform 6" id="6"/>
            <p:cNvSpPr/>
            <p:nvPr/>
          </p:nvSpPr>
          <p:spPr>
            <a:xfrm flipH="false" flipV="false" rot="0">
              <a:off x="0" y="0"/>
              <a:ext cx="1340440" cy="1471973"/>
            </a:xfrm>
            <a:custGeom>
              <a:avLst/>
              <a:gdLst/>
              <a:ahLst/>
              <a:cxnLst/>
              <a:rect r="r" b="b" t="t" l="l"/>
              <a:pathLst>
                <a:path h="1471973" w="1340440">
                  <a:moveTo>
                    <a:pt x="77579" y="0"/>
                  </a:moveTo>
                  <a:lnTo>
                    <a:pt x="1262861" y="0"/>
                  </a:lnTo>
                  <a:cubicBezTo>
                    <a:pt x="1305707" y="0"/>
                    <a:pt x="1340440" y="34733"/>
                    <a:pt x="1340440" y="77579"/>
                  </a:cubicBezTo>
                  <a:lnTo>
                    <a:pt x="1340440" y="1394394"/>
                  </a:lnTo>
                  <a:cubicBezTo>
                    <a:pt x="1340440" y="1414969"/>
                    <a:pt x="1332266" y="1434702"/>
                    <a:pt x="1317717" y="1449251"/>
                  </a:cubicBezTo>
                  <a:cubicBezTo>
                    <a:pt x="1303169" y="1463800"/>
                    <a:pt x="1283436" y="1471973"/>
                    <a:pt x="1262861" y="1471973"/>
                  </a:cubicBezTo>
                  <a:lnTo>
                    <a:pt x="77579" y="1471973"/>
                  </a:lnTo>
                  <a:cubicBezTo>
                    <a:pt x="57004" y="1471973"/>
                    <a:pt x="37271" y="1463800"/>
                    <a:pt x="22722" y="1449251"/>
                  </a:cubicBezTo>
                  <a:cubicBezTo>
                    <a:pt x="8173" y="1434702"/>
                    <a:pt x="0" y="1414969"/>
                    <a:pt x="0" y="1394394"/>
                  </a:cubicBezTo>
                  <a:lnTo>
                    <a:pt x="0" y="77579"/>
                  </a:lnTo>
                  <a:cubicBezTo>
                    <a:pt x="0" y="57004"/>
                    <a:pt x="8173" y="37271"/>
                    <a:pt x="22722" y="22722"/>
                  </a:cubicBezTo>
                  <a:cubicBezTo>
                    <a:pt x="37271" y="8173"/>
                    <a:pt x="57004" y="0"/>
                    <a:pt x="77579" y="0"/>
                  </a:cubicBezTo>
                  <a:close/>
                </a:path>
              </a:pathLst>
            </a:custGeom>
            <a:solidFill>
              <a:srgbClr val="1C1C1C"/>
            </a:solidFill>
          </p:spPr>
        </p:sp>
        <p:sp>
          <p:nvSpPr>
            <p:cNvPr name="TextBox 7" id="7"/>
            <p:cNvSpPr txBox="true"/>
            <p:nvPr/>
          </p:nvSpPr>
          <p:spPr>
            <a:xfrm>
              <a:off x="0" y="-38100"/>
              <a:ext cx="1340440" cy="151007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174463" y="5972317"/>
            <a:ext cx="4990525" cy="3009463"/>
            <a:chOff x="0" y="0"/>
            <a:chExt cx="1314377" cy="792616"/>
          </a:xfrm>
        </p:grpSpPr>
        <p:sp>
          <p:nvSpPr>
            <p:cNvPr name="Freeform 9" id="9"/>
            <p:cNvSpPr/>
            <p:nvPr/>
          </p:nvSpPr>
          <p:spPr>
            <a:xfrm flipH="false" flipV="false" rot="0">
              <a:off x="0" y="0"/>
              <a:ext cx="1314377" cy="792616"/>
            </a:xfrm>
            <a:custGeom>
              <a:avLst/>
              <a:gdLst/>
              <a:ahLst/>
              <a:cxnLst/>
              <a:rect r="r" b="b" t="t" l="l"/>
              <a:pathLst>
                <a:path h="792616" w="1314377">
                  <a:moveTo>
                    <a:pt x="79118" y="0"/>
                  </a:moveTo>
                  <a:lnTo>
                    <a:pt x="1235260" y="0"/>
                  </a:lnTo>
                  <a:cubicBezTo>
                    <a:pt x="1256243" y="0"/>
                    <a:pt x="1276367" y="8336"/>
                    <a:pt x="1291204" y="23173"/>
                  </a:cubicBezTo>
                  <a:cubicBezTo>
                    <a:pt x="1306042" y="38010"/>
                    <a:pt x="1314377" y="58134"/>
                    <a:pt x="1314377" y="79118"/>
                  </a:cubicBezTo>
                  <a:lnTo>
                    <a:pt x="1314377" y="713498"/>
                  </a:lnTo>
                  <a:cubicBezTo>
                    <a:pt x="1314377" y="734481"/>
                    <a:pt x="1306042" y="754605"/>
                    <a:pt x="1291204" y="769443"/>
                  </a:cubicBezTo>
                  <a:cubicBezTo>
                    <a:pt x="1276367" y="784280"/>
                    <a:pt x="1256243" y="792616"/>
                    <a:pt x="1235260" y="792616"/>
                  </a:cubicBezTo>
                  <a:lnTo>
                    <a:pt x="79118" y="792616"/>
                  </a:lnTo>
                  <a:cubicBezTo>
                    <a:pt x="35422" y="792616"/>
                    <a:pt x="0" y="757194"/>
                    <a:pt x="0" y="713498"/>
                  </a:cubicBezTo>
                  <a:lnTo>
                    <a:pt x="0" y="79118"/>
                  </a:lnTo>
                  <a:cubicBezTo>
                    <a:pt x="0" y="58134"/>
                    <a:pt x="8336" y="38010"/>
                    <a:pt x="23173" y="23173"/>
                  </a:cubicBezTo>
                  <a:cubicBezTo>
                    <a:pt x="38010" y="8336"/>
                    <a:pt x="58134" y="0"/>
                    <a:pt x="79118" y="0"/>
                  </a:cubicBezTo>
                  <a:close/>
                </a:path>
              </a:pathLst>
            </a:custGeom>
            <a:solidFill>
              <a:srgbClr val="8C09FF"/>
            </a:solidFill>
          </p:spPr>
        </p:sp>
        <p:sp>
          <p:nvSpPr>
            <p:cNvPr name="TextBox 10" id="10"/>
            <p:cNvSpPr txBox="true"/>
            <p:nvPr/>
          </p:nvSpPr>
          <p:spPr>
            <a:xfrm>
              <a:off x="0" y="-38100"/>
              <a:ext cx="1314377" cy="83071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124985" y="2520995"/>
            <a:ext cx="5089482" cy="5588898"/>
            <a:chOff x="0" y="0"/>
            <a:chExt cx="1340440" cy="1471973"/>
          </a:xfrm>
        </p:grpSpPr>
        <p:sp>
          <p:nvSpPr>
            <p:cNvPr name="Freeform 12" id="12"/>
            <p:cNvSpPr/>
            <p:nvPr/>
          </p:nvSpPr>
          <p:spPr>
            <a:xfrm flipH="false" flipV="false" rot="0">
              <a:off x="0" y="0"/>
              <a:ext cx="1340440" cy="1471973"/>
            </a:xfrm>
            <a:custGeom>
              <a:avLst/>
              <a:gdLst/>
              <a:ahLst/>
              <a:cxnLst/>
              <a:rect r="r" b="b" t="t" l="l"/>
              <a:pathLst>
                <a:path h="1471973" w="1340440">
                  <a:moveTo>
                    <a:pt x="77579" y="0"/>
                  </a:moveTo>
                  <a:lnTo>
                    <a:pt x="1262861" y="0"/>
                  </a:lnTo>
                  <a:cubicBezTo>
                    <a:pt x="1305707" y="0"/>
                    <a:pt x="1340440" y="34733"/>
                    <a:pt x="1340440" y="77579"/>
                  </a:cubicBezTo>
                  <a:lnTo>
                    <a:pt x="1340440" y="1394394"/>
                  </a:lnTo>
                  <a:cubicBezTo>
                    <a:pt x="1340440" y="1414969"/>
                    <a:pt x="1332266" y="1434702"/>
                    <a:pt x="1317717" y="1449251"/>
                  </a:cubicBezTo>
                  <a:cubicBezTo>
                    <a:pt x="1303169" y="1463800"/>
                    <a:pt x="1283436" y="1471973"/>
                    <a:pt x="1262861" y="1471973"/>
                  </a:cubicBezTo>
                  <a:lnTo>
                    <a:pt x="77579" y="1471973"/>
                  </a:lnTo>
                  <a:cubicBezTo>
                    <a:pt x="57004" y="1471973"/>
                    <a:pt x="37271" y="1463800"/>
                    <a:pt x="22722" y="1449251"/>
                  </a:cubicBezTo>
                  <a:cubicBezTo>
                    <a:pt x="8173" y="1434702"/>
                    <a:pt x="0" y="1414969"/>
                    <a:pt x="0" y="1394394"/>
                  </a:cubicBezTo>
                  <a:lnTo>
                    <a:pt x="0" y="77579"/>
                  </a:lnTo>
                  <a:cubicBezTo>
                    <a:pt x="0" y="57004"/>
                    <a:pt x="8173" y="37271"/>
                    <a:pt x="22722" y="22722"/>
                  </a:cubicBezTo>
                  <a:cubicBezTo>
                    <a:pt x="37271" y="8173"/>
                    <a:pt x="57004" y="0"/>
                    <a:pt x="77579" y="0"/>
                  </a:cubicBezTo>
                  <a:close/>
                </a:path>
              </a:pathLst>
            </a:custGeom>
            <a:solidFill>
              <a:srgbClr val="1C1C1C"/>
            </a:solidFill>
          </p:spPr>
        </p:sp>
        <p:sp>
          <p:nvSpPr>
            <p:cNvPr name="TextBox 13" id="13"/>
            <p:cNvSpPr txBox="true"/>
            <p:nvPr/>
          </p:nvSpPr>
          <p:spPr>
            <a:xfrm>
              <a:off x="0" y="-38100"/>
              <a:ext cx="1340440" cy="151007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2332849" y="5143500"/>
            <a:ext cx="4980795" cy="3838280"/>
            <a:chOff x="0" y="0"/>
            <a:chExt cx="1311814" cy="1010905"/>
          </a:xfrm>
        </p:grpSpPr>
        <p:sp>
          <p:nvSpPr>
            <p:cNvPr name="Freeform 15" id="15"/>
            <p:cNvSpPr/>
            <p:nvPr/>
          </p:nvSpPr>
          <p:spPr>
            <a:xfrm flipH="false" flipV="false" rot="0">
              <a:off x="0" y="0"/>
              <a:ext cx="1311814" cy="1010905"/>
            </a:xfrm>
            <a:custGeom>
              <a:avLst/>
              <a:gdLst/>
              <a:ahLst/>
              <a:cxnLst/>
              <a:rect r="r" b="b" t="t" l="l"/>
              <a:pathLst>
                <a:path h="1010905" w="1311814">
                  <a:moveTo>
                    <a:pt x="79272" y="0"/>
                  </a:moveTo>
                  <a:lnTo>
                    <a:pt x="1232542" y="0"/>
                  </a:lnTo>
                  <a:cubicBezTo>
                    <a:pt x="1276323" y="0"/>
                    <a:pt x="1311814" y="35491"/>
                    <a:pt x="1311814" y="79272"/>
                  </a:cubicBezTo>
                  <a:lnTo>
                    <a:pt x="1311814" y="931633"/>
                  </a:lnTo>
                  <a:cubicBezTo>
                    <a:pt x="1311814" y="975414"/>
                    <a:pt x="1276323" y="1010905"/>
                    <a:pt x="1232542" y="1010905"/>
                  </a:cubicBezTo>
                  <a:lnTo>
                    <a:pt x="79272" y="1010905"/>
                  </a:lnTo>
                  <a:cubicBezTo>
                    <a:pt x="35491" y="1010905"/>
                    <a:pt x="0" y="975414"/>
                    <a:pt x="0" y="931633"/>
                  </a:cubicBezTo>
                  <a:lnTo>
                    <a:pt x="0" y="79272"/>
                  </a:lnTo>
                  <a:cubicBezTo>
                    <a:pt x="0" y="35491"/>
                    <a:pt x="35491" y="0"/>
                    <a:pt x="79272" y="0"/>
                  </a:cubicBezTo>
                  <a:close/>
                </a:path>
              </a:pathLst>
            </a:custGeom>
            <a:solidFill>
              <a:srgbClr val="8C09FF"/>
            </a:solidFill>
          </p:spPr>
        </p:sp>
        <p:sp>
          <p:nvSpPr>
            <p:cNvPr name="TextBox 16" id="16"/>
            <p:cNvSpPr txBox="true"/>
            <p:nvPr/>
          </p:nvSpPr>
          <p:spPr>
            <a:xfrm>
              <a:off x="0" y="-38100"/>
              <a:ext cx="1311814" cy="104900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2278505" y="2272266"/>
            <a:ext cx="5089482" cy="5837626"/>
            <a:chOff x="0" y="0"/>
            <a:chExt cx="1340440" cy="1537482"/>
          </a:xfrm>
        </p:grpSpPr>
        <p:sp>
          <p:nvSpPr>
            <p:cNvPr name="Freeform 18" id="18"/>
            <p:cNvSpPr/>
            <p:nvPr/>
          </p:nvSpPr>
          <p:spPr>
            <a:xfrm flipH="false" flipV="false" rot="0">
              <a:off x="0" y="0"/>
              <a:ext cx="1340440" cy="1537482"/>
            </a:xfrm>
            <a:custGeom>
              <a:avLst/>
              <a:gdLst/>
              <a:ahLst/>
              <a:cxnLst/>
              <a:rect r="r" b="b" t="t" l="l"/>
              <a:pathLst>
                <a:path h="1537482" w="1340440">
                  <a:moveTo>
                    <a:pt x="77579" y="0"/>
                  </a:moveTo>
                  <a:lnTo>
                    <a:pt x="1262861" y="0"/>
                  </a:lnTo>
                  <a:cubicBezTo>
                    <a:pt x="1305707" y="0"/>
                    <a:pt x="1340440" y="34733"/>
                    <a:pt x="1340440" y="77579"/>
                  </a:cubicBezTo>
                  <a:lnTo>
                    <a:pt x="1340440" y="1459903"/>
                  </a:lnTo>
                  <a:cubicBezTo>
                    <a:pt x="1340440" y="1480478"/>
                    <a:pt x="1332266" y="1500210"/>
                    <a:pt x="1317717" y="1514759"/>
                  </a:cubicBezTo>
                  <a:cubicBezTo>
                    <a:pt x="1303169" y="1529308"/>
                    <a:pt x="1283436" y="1537482"/>
                    <a:pt x="1262861" y="1537482"/>
                  </a:cubicBezTo>
                  <a:lnTo>
                    <a:pt x="77579" y="1537482"/>
                  </a:lnTo>
                  <a:cubicBezTo>
                    <a:pt x="57004" y="1537482"/>
                    <a:pt x="37271" y="1529308"/>
                    <a:pt x="22722" y="1514759"/>
                  </a:cubicBezTo>
                  <a:cubicBezTo>
                    <a:pt x="8173" y="1500210"/>
                    <a:pt x="0" y="1480478"/>
                    <a:pt x="0" y="1459903"/>
                  </a:cubicBezTo>
                  <a:lnTo>
                    <a:pt x="0" y="77579"/>
                  </a:lnTo>
                  <a:cubicBezTo>
                    <a:pt x="0" y="57004"/>
                    <a:pt x="8173" y="37271"/>
                    <a:pt x="22722" y="22722"/>
                  </a:cubicBezTo>
                  <a:cubicBezTo>
                    <a:pt x="37271" y="8173"/>
                    <a:pt x="57004" y="0"/>
                    <a:pt x="77579" y="0"/>
                  </a:cubicBezTo>
                  <a:close/>
                </a:path>
              </a:pathLst>
            </a:custGeom>
            <a:solidFill>
              <a:srgbClr val="1C1C1C"/>
            </a:solidFill>
          </p:spPr>
        </p:sp>
        <p:sp>
          <p:nvSpPr>
            <p:cNvPr name="TextBox 19" id="19"/>
            <p:cNvSpPr txBox="true"/>
            <p:nvPr/>
          </p:nvSpPr>
          <p:spPr>
            <a:xfrm>
              <a:off x="0" y="-38100"/>
              <a:ext cx="1340440" cy="157558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0" y="0"/>
            <a:ext cx="18288000" cy="1543194"/>
            <a:chOff x="0" y="0"/>
            <a:chExt cx="4816593" cy="406438"/>
          </a:xfrm>
        </p:grpSpPr>
        <p:sp>
          <p:nvSpPr>
            <p:cNvPr name="Freeform 21" id="21"/>
            <p:cNvSpPr/>
            <p:nvPr/>
          </p:nvSpPr>
          <p:spPr>
            <a:xfrm flipH="false" flipV="false" rot="0">
              <a:off x="0" y="0"/>
              <a:ext cx="4816592" cy="406438"/>
            </a:xfrm>
            <a:custGeom>
              <a:avLst/>
              <a:gdLst/>
              <a:ahLst/>
              <a:cxnLst/>
              <a:rect r="r" b="b" t="t" l="l"/>
              <a:pathLst>
                <a:path h="406438" w="4816592">
                  <a:moveTo>
                    <a:pt x="0" y="0"/>
                  </a:moveTo>
                  <a:lnTo>
                    <a:pt x="4816592" y="0"/>
                  </a:lnTo>
                  <a:lnTo>
                    <a:pt x="4816592" y="406438"/>
                  </a:lnTo>
                  <a:lnTo>
                    <a:pt x="0" y="406438"/>
                  </a:lnTo>
                  <a:close/>
                </a:path>
              </a:pathLst>
            </a:custGeom>
            <a:solidFill>
              <a:srgbClr val="8C09FF"/>
            </a:solidFill>
          </p:spPr>
        </p:sp>
        <p:sp>
          <p:nvSpPr>
            <p:cNvPr name="TextBox 22" id="22"/>
            <p:cNvSpPr txBox="true"/>
            <p:nvPr/>
          </p:nvSpPr>
          <p:spPr>
            <a:xfrm>
              <a:off x="0" y="-38100"/>
              <a:ext cx="4816593" cy="444538"/>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19853" y="296934"/>
            <a:ext cx="10769833" cy="854076"/>
          </a:xfrm>
          <a:prstGeom prst="rect">
            <a:avLst/>
          </a:prstGeom>
        </p:spPr>
        <p:txBody>
          <a:bodyPr anchor="t" rtlCol="false" tIns="0" lIns="0" bIns="0" rIns="0">
            <a:spAutoFit/>
          </a:bodyPr>
          <a:lstStyle/>
          <a:p>
            <a:pPr algn="l">
              <a:lnSpc>
                <a:spcPts val="6999"/>
              </a:lnSpc>
            </a:pPr>
            <a:r>
              <a:rPr lang="en-US" b="true" sz="4999" spc="99">
                <a:solidFill>
                  <a:srgbClr val="FFFFFF"/>
                </a:solidFill>
                <a:latin typeface="Garet Bold"/>
                <a:ea typeface="Garet Bold"/>
                <a:cs typeface="Garet Bold"/>
                <a:sym typeface="Garet Bold"/>
              </a:rPr>
              <a:t>BENEFITS &amp; FUTURE SCOPE</a:t>
            </a:r>
          </a:p>
        </p:txBody>
      </p:sp>
      <p:sp>
        <p:nvSpPr>
          <p:cNvPr name="TextBox 24" id="24"/>
          <p:cNvSpPr txBox="true"/>
          <p:nvPr/>
        </p:nvSpPr>
        <p:spPr>
          <a:xfrm rot="0">
            <a:off x="1047471" y="3098639"/>
            <a:ext cx="4112433" cy="931545"/>
          </a:xfrm>
          <a:prstGeom prst="rect">
            <a:avLst/>
          </a:prstGeom>
        </p:spPr>
        <p:txBody>
          <a:bodyPr anchor="t" rtlCol="false" tIns="0" lIns="0" bIns="0" rIns="0">
            <a:spAutoFit/>
          </a:bodyPr>
          <a:lstStyle/>
          <a:p>
            <a:pPr algn="ctr">
              <a:lnSpc>
                <a:spcPts val="3779"/>
              </a:lnSpc>
            </a:pPr>
            <a:r>
              <a:rPr lang="en-US" sz="2699" b="true">
                <a:solidFill>
                  <a:srgbClr val="FFFFFF"/>
                </a:solidFill>
                <a:latin typeface="Garet Bold"/>
                <a:ea typeface="Garet Bold"/>
                <a:cs typeface="Garet Bold"/>
                <a:sym typeface="Garet Bold"/>
              </a:rPr>
              <a:t>Voice Commands for Reminder Setup</a:t>
            </a:r>
          </a:p>
        </p:txBody>
      </p:sp>
      <p:sp>
        <p:nvSpPr>
          <p:cNvPr name="TextBox 25" id="25"/>
          <p:cNvSpPr txBox="true"/>
          <p:nvPr/>
        </p:nvSpPr>
        <p:spPr>
          <a:xfrm rot="0">
            <a:off x="6451235" y="2928334"/>
            <a:ext cx="4420274" cy="860425"/>
          </a:xfrm>
          <a:prstGeom prst="rect">
            <a:avLst/>
          </a:prstGeom>
        </p:spPr>
        <p:txBody>
          <a:bodyPr anchor="t" rtlCol="false" tIns="0" lIns="0" bIns="0" rIns="0">
            <a:spAutoFit/>
          </a:bodyPr>
          <a:lstStyle/>
          <a:p>
            <a:pPr algn="ctr">
              <a:lnSpc>
                <a:spcPts val="3499"/>
              </a:lnSpc>
            </a:pPr>
            <a:r>
              <a:rPr lang="en-US" sz="2499" b="true">
                <a:solidFill>
                  <a:srgbClr val="FFFFFF"/>
                </a:solidFill>
                <a:latin typeface="Garet Bold"/>
                <a:ea typeface="Garet Bold"/>
                <a:cs typeface="Garet Bold"/>
                <a:sym typeface="Garet Bold"/>
              </a:rPr>
              <a:t>Marketplace for Buying Medicines</a:t>
            </a:r>
          </a:p>
        </p:txBody>
      </p:sp>
      <p:sp>
        <p:nvSpPr>
          <p:cNvPr name="TextBox 26" id="26"/>
          <p:cNvSpPr txBox="true"/>
          <p:nvPr/>
        </p:nvSpPr>
        <p:spPr>
          <a:xfrm rot="0">
            <a:off x="12767030" y="2928334"/>
            <a:ext cx="4112433" cy="860425"/>
          </a:xfrm>
          <a:prstGeom prst="rect">
            <a:avLst/>
          </a:prstGeom>
        </p:spPr>
        <p:txBody>
          <a:bodyPr anchor="t" rtlCol="false" tIns="0" lIns="0" bIns="0" rIns="0">
            <a:spAutoFit/>
          </a:bodyPr>
          <a:lstStyle/>
          <a:p>
            <a:pPr algn="ctr">
              <a:lnSpc>
                <a:spcPts val="3499"/>
              </a:lnSpc>
            </a:pPr>
            <a:r>
              <a:rPr lang="en-US" sz="2499" b="true">
                <a:solidFill>
                  <a:srgbClr val="FFFFFF"/>
                </a:solidFill>
                <a:latin typeface="Garet Bold"/>
                <a:ea typeface="Garet Bold"/>
                <a:cs typeface="Garet Bold"/>
                <a:sym typeface="Garet Bold"/>
              </a:rPr>
              <a:t>Seamless Integration with Smart  Devices</a:t>
            </a:r>
          </a:p>
        </p:txBody>
      </p:sp>
      <p:sp>
        <p:nvSpPr>
          <p:cNvPr name="TextBox 27" id="27"/>
          <p:cNvSpPr txBox="true"/>
          <p:nvPr/>
        </p:nvSpPr>
        <p:spPr>
          <a:xfrm rot="0">
            <a:off x="790399" y="4573309"/>
            <a:ext cx="4614646" cy="2721815"/>
          </a:xfrm>
          <a:prstGeom prst="rect">
            <a:avLst/>
          </a:prstGeom>
        </p:spPr>
        <p:txBody>
          <a:bodyPr anchor="t" rtlCol="false" tIns="0" lIns="0" bIns="0" rIns="0">
            <a:spAutoFit/>
          </a:bodyPr>
          <a:lstStyle/>
          <a:p>
            <a:pPr algn="just">
              <a:lnSpc>
                <a:spcPts val="3687"/>
              </a:lnSpc>
            </a:pPr>
          </a:p>
          <a:p>
            <a:pPr algn="just">
              <a:lnSpc>
                <a:spcPts val="3687"/>
              </a:lnSpc>
            </a:pPr>
            <a:r>
              <a:rPr lang="en-US" sz="2378">
                <a:solidFill>
                  <a:srgbClr val="FFFFFF"/>
                </a:solidFill>
                <a:latin typeface="Open Sans"/>
                <a:ea typeface="Open Sans"/>
                <a:cs typeface="Open Sans"/>
                <a:sym typeface="Open Sans"/>
              </a:rPr>
              <a:t>Users can easily set up medication reminders using voice commands, making it accessible for those with limited tech skills or mobility.</a:t>
            </a:r>
          </a:p>
        </p:txBody>
      </p:sp>
      <p:sp>
        <p:nvSpPr>
          <p:cNvPr name="TextBox 28" id="28"/>
          <p:cNvSpPr txBox="true"/>
          <p:nvPr/>
        </p:nvSpPr>
        <p:spPr>
          <a:xfrm rot="0">
            <a:off x="6470512" y="4069638"/>
            <a:ext cx="4381719" cy="3407410"/>
          </a:xfrm>
          <a:prstGeom prst="rect">
            <a:avLst/>
          </a:prstGeom>
        </p:spPr>
        <p:txBody>
          <a:bodyPr anchor="t" rtlCol="false" tIns="0" lIns="0" bIns="0" rIns="0">
            <a:spAutoFit/>
          </a:bodyPr>
          <a:lstStyle/>
          <a:p>
            <a:pPr algn="just">
              <a:lnSpc>
                <a:spcPts val="3410"/>
              </a:lnSpc>
            </a:pPr>
            <a:r>
              <a:rPr lang="en-US" sz="2200" spc="-22">
                <a:solidFill>
                  <a:srgbClr val="FFFFFF"/>
                </a:solidFill>
                <a:latin typeface="Open Sans"/>
                <a:ea typeface="Open Sans"/>
                <a:cs typeface="Open Sans"/>
                <a:sym typeface="Open Sans"/>
              </a:rPr>
              <a:t>By integrating marketplace it allow users to easily purchase medications when they are running low. </a:t>
            </a:r>
          </a:p>
          <a:p>
            <a:pPr algn="just">
              <a:lnSpc>
                <a:spcPts val="3410"/>
              </a:lnSpc>
            </a:pPr>
            <a:r>
              <a:rPr lang="en-US" sz="2200" spc="-22">
                <a:solidFill>
                  <a:srgbClr val="FFFFFF"/>
                </a:solidFill>
                <a:latin typeface="Open Sans"/>
                <a:ea typeface="Open Sans"/>
                <a:cs typeface="Open Sans"/>
                <a:sym typeface="Open Sans"/>
              </a:rPr>
              <a:t>It can later include features like Automatic Refill Alerts and helping people buy medicines from verified pharmacies near them</a:t>
            </a:r>
          </a:p>
        </p:txBody>
      </p:sp>
      <p:sp>
        <p:nvSpPr>
          <p:cNvPr name="TextBox 29" id="29"/>
          <p:cNvSpPr txBox="true"/>
          <p:nvPr/>
        </p:nvSpPr>
        <p:spPr>
          <a:xfrm rot="0">
            <a:off x="12903552" y="4409262"/>
            <a:ext cx="3839390" cy="2728164"/>
          </a:xfrm>
          <a:prstGeom prst="rect">
            <a:avLst/>
          </a:prstGeom>
        </p:spPr>
        <p:txBody>
          <a:bodyPr anchor="t" rtlCol="false" tIns="0" lIns="0" bIns="0" rIns="0">
            <a:spAutoFit/>
          </a:bodyPr>
          <a:lstStyle/>
          <a:p>
            <a:pPr algn="just" marL="0" indent="0" lvl="0">
              <a:lnSpc>
                <a:spcPts val="3655"/>
              </a:lnSpc>
            </a:pPr>
            <a:r>
              <a:rPr lang="en-US" sz="2358">
                <a:solidFill>
                  <a:srgbClr val="FFFFFF"/>
                </a:solidFill>
                <a:latin typeface="Open Sans"/>
                <a:ea typeface="Open Sans"/>
                <a:cs typeface="Open Sans"/>
                <a:sym typeface="Open Sans"/>
              </a:rPr>
              <a:t>Seamless integration with smart devices like Google Home and create medicine reminder routines for multiple family members in the family </a:t>
            </a:r>
          </a:p>
        </p:txBody>
      </p:sp>
      <p:sp>
        <p:nvSpPr>
          <p:cNvPr name="TextBox 30" id="30"/>
          <p:cNvSpPr txBox="true"/>
          <p:nvPr/>
        </p:nvSpPr>
        <p:spPr>
          <a:xfrm rot="0">
            <a:off x="12767030" y="544513"/>
            <a:ext cx="4972097"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Team CodeBros</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DAGJKrh7LLE</dc:identifier>
  <dcterms:modified xsi:type="dcterms:W3CDTF">2011-08-01T06:04:30Z</dcterms:modified>
  <cp:revision>1</cp:revision>
  <dc:title>FinAdvise BHAU Pitch</dc:title>
</cp:coreProperties>
</file>